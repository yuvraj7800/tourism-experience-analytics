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Visit Mode Distribution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Visit Modes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0097A7"/>
              </a:solidFill>
              <a:effectLst/>
            </c:spPr>
          </c:dPt>
          <c:dPt>
            <c:idx val="2"/>
            <c:bubble3D val="0"/>
            <c:spPr>
              <a:solidFill>
                <a:srgbClr val="00BFA5"/>
              </a:solidFill>
              <a:effectLst/>
            </c:spPr>
          </c:dPt>
          <c:dPt>
            <c:idx val="3"/>
            <c:bubble3D val="0"/>
            <c:spPr>
              <a:solidFill>
                <a:srgbClr val="FFB300"/>
              </a:solidFill>
              <a:effectLst/>
            </c:spPr>
          </c:dPt>
          <c:dPt>
            <c:idx val="4"/>
            <c:bubble3D val="0"/>
            <c:spPr>
              <a:solidFill>
                <a:srgbClr val="F4511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Couples</c:v>
                </c:pt>
                <c:pt idx="1">
                  <c:v>Family</c:v>
                </c:pt>
                <c:pt idx="2">
                  <c:v>Friends</c:v>
                </c:pt>
                <c:pt idx="3">
                  <c:v>Business</c:v>
                </c:pt>
                <c:pt idx="4">
                  <c:v>Solo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40.8</c:v>
                </c:pt>
                <c:pt idx="1">
                  <c:v>28.7</c:v>
                </c:pt>
                <c:pt idx="2">
                  <c:v>20.7</c:v>
                </c:pt>
                <c:pt idx="3">
                  <c:v>6.5</c:v>
                </c:pt>
                <c:pt idx="4">
                  <c:v>3.3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Top Attraction Types (% of Visits)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0097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Nature &amp; Wildlife</c:v>
                  </c:pt>
                  <c:pt idx="1">
                    <c:v>Beaches</c:v>
                  </c:pt>
                  <c:pt idx="2">
                    <c:v>Religious Sites</c:v>
                  </c:pt>
                  <c:pt idx="3">
                    <c:v>Museums</c:v>
                  </c:pt>
                  <c:pt idx="4">
                    <c:v>Water Parks</c:v>
                  </c:pt>
                  <c:pt idx="5">
                    <c:v>Parks</c:v>
                  </c:pt>
                  <c:pt idx="6">
                    <c:v>Historic Sites</c:v>
                  </c:pt>
                  <c:pt idx="7">
                    <c:v>Neighbourhoods</c:v>
                  </c:pt>
                  <c:pt idx="8">
                    <c:v>Zoos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20.6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2.8</c:v>
                </c:pt>
                <c:pt idx="8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Monthly Visit Volume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Visits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3200</c:v>
                </c:pt>
                <c:pt idx="1">
                  <c:v>3800</c:v>
                </c:pt>
                <c:pt idx="2">
                  <c:v>4500</c:v>
                </c:pt>
                <c:pt idx="3">
                  <c:v>4100</c:v>
                </c:pt>
                <c:pt idx="4">
                  <c:v>5200</c:v>
                </c:pt>
                <c:pt idx="5">
                  <c:v>5800</c:v>
                </c:pt>
                <c:pt idx="6">
                  <c:v>6100</c:v>
                </c:pt>
                <c:pt idx="7">
                  <c:v>5900</c:v>
                </c:pt>
                <c:pt idx="8">
                  <c:v>4800</c:v>
                </c:pt>
                <c:pt idx="9">
                  <c:v>4300</c:v>
                </c:pt>
                <c:pt idx="10">
                  <c:v>3600</c:v>
                </c:pt>
                <c:pt idx="11">
                  <c:v>5700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Avg Rating by Continent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Australia
&amp; Oceania</c:v>
                  </c:pt>
                  <c:pt idx="1">
                    <c:v>Europe</c:v>
                  </c:pt>
                  <c:pt idx="2">
                    <c:v>South
America</c:v>
                  </c:pt>
                  <c:pt idx="3">
                    <c:v>North
America</c:v>
                  </c:pt>
                  <c:pt idx="4">
                    <c:v>Asia</c:v>
                  </c:pt>
                  <c:pt idx="5">
                    <c:v>Africa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4.21</c:v>
                </c:pt>
                <c:pt idx="1">
                  <c:v>4.18</c:v>
                </c:pt>
                <c:pt idx="2">
                  <c:v>4.15</c:v>
                </c:pt>
                <c:pt idx="3">
                  <c:v>4.12</c:v>
                </c:pt>
                <c:pt idx="4">
                  <c:v>4.09</c:v>
                </c:pt>
                <c:pt idx="5">
                  <c:v>4.05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3"/>
          <c:min val="3.9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Model Comparison — R²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7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FA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
Regression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0.38</c:v>
                </c:pt>
                <c:pt idx="1">
                  <c:v>0.69</c:v>
                </c:pt>
                <c:pt idx="2">
                  <c:v>0.74</c:v>
                </c:pt>
                <c:pt idx="3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Model Comparison — Accuracy &amp;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
Forest</c:v>
                  </c:pt>
                  <c:pt idx="1">
                    <c:v>XGBoost</c:v>
                  </c:pt>
                  <c:pt idx="2">
                    <c:v>LightGBM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0.498</c:v>
                </c:pt>
                <c:pt idx="1">
                  <c:v>0.504</c:v>
                </c:pt>
                <c:pt idx="2">
                  <c:v>0.513</c:v>
                </c:pt>
                <c:pt idx="3">
                  <c:v>0.501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
Forest</c:v>
                  </c:pt>
                  <c:pt idx="1">
                    <c:v>XGBoost</c:v>
                  </c:pt>
                  <c:pt idx="2">
                    <c:v>LightGBM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0.451</c:v>
                </c:pt>
                <c:pt idx="1">
                  <c:v>0.46</c:v>
                </c:pt>
                <c:pt idx="2">
                  <c:v>0.47</c:v>
                </c:pt>
                <c:pt idx="3">
                  <c:v>0.458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011680" y="5029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Experience Analytics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011680" y="15087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1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·  Prediction  ·  Recommendation System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011680" y="2103120"/>
            <a:ext cx="658368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0" y="2926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0" y="2926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Classification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0" y="2926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Deployment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663440"/>
            <a:ext cx="8823960" cy="4800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63440"/>
            <a:ext cx="8503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Tourism  |  Skills: Data Cleaning · EDA · Machine Learning · Streamlit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Problem: 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agencies need data-driven tools to provide personalized recommendations, predict user satisfaction, and classify visitor behavior — to enhance experience and boost retention.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2743200" cy="2606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86000"/>
            <a:ext cx="27432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423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Attraction Ratings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54787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rating (1–5) a user will give to an attraction based on demographics, visit details, and attraction features.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286000"/>
            <a:ext cx="2743200" cy="2606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286000"/>
            <a:ext cx="27432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423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546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5468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 Mode Prediction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354787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visit mode — Business, Couples, Family, Friends, Solo — based on user profile and attraction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286000"/>
            <a:ext cx="2743200" cy="2606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286000"/>
            <a:ext cx="274320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423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504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54787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tourist attractions using Collaborative Filtering, Content-Based Filtering, and a Hybrid approach.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52,930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097280"/>
            <a:ext cx="20116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33,530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50592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097280"/>
            <a:ext cx="201168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30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097280"/>
            <a:ext cx="2011680" cy="1005840"/>
          </a:xfrm>
          <a:prstGeom prst="rect">
            <a:avLst/>
          </a:prstGeom>
          <a:solidFill>
            <a:srgbClr val="FCE4EC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4.16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03136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/ 5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859536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347472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TransactionId, UserId, VisitYear, VisitMonth, VisitMode, AttractionId,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data — user visits with ratings and visit modes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UserId, ContinentId, RegionId, CountryId, CityId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demographics and geographic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AttractionId, AttractionCityId, AttractionTypeId, Attraction, AttractionAddress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Tourist attraction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VisitModeId, VisitMode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Lookup: Business, Couples, Family, Friends, Solo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AttractionTypeId, AttractionType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Lookup: Beach, Museum, Nature, Park,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/ Country / Region / Continent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+ Name 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hierarchy for joining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69080" cy="35661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Removed ratings outside [1–5] 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Filled User.CityId NULLs with 0 (unknown)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Dropped placeholder rows (Id = 0) from all lookup tables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Removed duplicate transactions and user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Standardized data types — CityId cast to integer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206240" cy="35661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627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Season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1627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VisitMonth (Spring/Summer/Autumn/Winter)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AttractionAvgRating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2103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historical rating per attraction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5786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UserAvgRating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578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historical rating given by each user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0540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UserVisitCount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0540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past visits per user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5295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AttractionPopularity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5295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 count per attraction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0050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Label Encoding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0050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VisitMode, Continent, Region, AttractionType, Season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Insights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389120" y="1051560"/>
          <a:ext cx="44805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14800"/>
            <a:ext cx="274320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4133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💑  40.8%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" y="44988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— largest visit segment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154680" y="4114800"/>
            <a:ext cx="274320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154680" y="4133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🏝️  #1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154680" y="44988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Monkey Forest — most visited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4114800"/>
            <a:ext cx="274320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035040" y="4133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4.21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35040" y="44988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— Australia &amp; Oceania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Trends, Ratings &amp; Correlations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515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1148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Top Correlations with Rating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1148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AttractionAvgRating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4407408"/>
            <a:ext cx="19202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1480" y="4407408"/>
            <a:ext cx="1613002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0.84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51460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UserAvgRating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514600" y="4407408"/>
            <a:ext cx="19202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14600" y="4407408"/>
            <a:ext cx="136337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1460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1772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AttractionPopularity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4407408"/>
            <a:ext cx="19202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17720" y="4407408"/>
            <a:ext cx="441655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1772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72084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UserVisitCount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720840" y="4407408"/>
            <a:ext cx="19202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0840" y="4407408"/>
            <a:ext cx="345643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2084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Predicting Attraction Ratings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Objective: Predict the numeric rating (1–5) a user will give to a tourist attraction based on historical data, user demographics, and attraction features.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3474720" cy="3108960"/>
          </a:xfrm>
          <a:prstGeom prst="rect">
            <a:avLst/>
          </a:prstGeom>
          <a:solidFill>
            <a:srgbClr val="F0F7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Features (11)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VisitYear, VisitMonth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ContinentName (encoded)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RegionName (encoded)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AttractionType (encoded)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 (encoded)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AttractionAvgRating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UserAvgRating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UserVisitCount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AttractionPopularity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AttractionTypeId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931920" y="1783080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931920" y="4206240"/>
            <a:ext cx="114300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31920" y="422452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31920" y="46177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66360" y="4206240"/>
            <a:ext cx="114300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6360" y="422452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0.7401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66360" y="46177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0" y="4206240"/>
            <a:ext cx="114300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422452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0.4977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46177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35240" y="4206240"/>
            <a:ext cx="114300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635240" y="422452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0.2674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635240" y="46177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Visit Mode Prediction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Objective: Predict the visit mode — Business, Couples, Family, Friends, Solo — using user demographics and attraction characteristics.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783080"/>
          <a:ext cx="5303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783080"/>
            <a:ext cx="3108960" cy="2606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Per-Class F1 (LightGBM)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286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2359152"/>
            <a:ext cx="1463040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2359152"/>
            <a:ext cx="848563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0" y="22860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68833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2761488"/>
            <a:ext cx="1463040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2761488"/>
            <a:ext cx="760781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26883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090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3163824"/>
            <a:ext cx="1463040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0" y="3163824"/>
            <a:ext cx="643738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34930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0" y="3566160"/>
            <a:ext cx="1463040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0" y="3566160"/>
            <a:ext cx="453542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1040" y="34930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52160" y="389534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858000" y="3968496"/>
            <a:ext cx="1463040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0" y="3968496"/>
            <a:ext cx="263347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21040" y="38953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526280"/>
            <a:ext cx="20116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74320" y="454456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LightGBM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423160" y="4526280"/>
            <a:ext cx="20116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2423160" y="454456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51.3%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0" y="4526280"/>
            <a:ext cx="20116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572000" y="454456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0.4695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20840" y="4526280"/>
            <a:ext cx="20116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720840" y="454456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0.5253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840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56032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12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SVD Matrix Factorization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(TruncatedSVD, 20 components)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user-item rating matrix. Decomposes it into latent factors to predict ratings for unvisited attractions.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069080"/>
            <a:ext cx="256032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0873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RMSE: 0.2366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   0.0677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743200" cy="3840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97280"/>
            <a:ext cx="274320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468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46120" y="2148840"/>
            <a:ext cx="2560320" cy="182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212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K-Nearest Neighbors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(Cosine similarity, k=10)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8346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attraction feature vectors (type, city, avg rating, popularity). Recommends similar attractions to ones the user liked.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4069080"/>
            <a:ext cx="256032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40873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Similarity: Cosine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097280"/>
            <a:ext cx="2743200" cy="3840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097280"/>
            <a:ext cx="274320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3504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26480" y="2148840"/>
            <a:ext cx="2560320" cy="182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212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Weighted Combination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× Collaborative + (1–α) × Content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28346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signals. Default α=0.6 gives more weight to collaborative signal. User can tune via slider.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069080"/>
            <a:ext cx="2560320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40873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Best of both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0.50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7432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🧳 Classification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= 51.3%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0.47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743200" cy="1828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97280"/>
            <a:ext cx="274320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Recommendation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+ KNN Hybrid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0.24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= 0.07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(as per Project Guidelines)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2900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566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R², MSE, RMSE, 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XGBoost — R²=0.74, RMSE=0.50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Precision, Recall,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LightGBM — Acc=51.3%, F1=0.47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MAP, RMSE on held-out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SVD — RMSE=0.24, MAE=0.07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 user-friendly Streamlit application where tourists input their data and receive personalized attraction recommendations + predictions of their visit mode.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743200" cy="1280160"/>
          </a:xfrm>
          <a:prstGeom prst="rect">
            <a:avLst/>
          </a:prstGeom>
          <a:solidFill>
            <a:srgbClr val="F0F7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828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top attractions, popular regions, user segments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737360"/>
            <a:ext cx="2743200" cy="1280160"/>
          </a:xfrm>
          <a:prstGeom prst="rect">
            <a:avLst/>
          </a:prstGeom>
          <a:solidFill>
            <a:srgbClr val="F0F7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828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EDA Explorer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240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tabs: Geography, Ratings, Visit Modes, Time Trends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743200" cy="1280160"/>
          </a:xfrm>
          <a:prstGeom prst="rect">
            <a:avLst/>
          </a:prstGeom>
          <a:solidFill>
            <a:srgbClr val="F0F7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828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Predict Rating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details → XGBoost predicts rating with star display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2743200" cy="1280160"/>
          </a:xfrm>
          <a:prstGeom prst="rect">
            <a:avLst/>
          </a:prstGeom>
          <a:solidFill>
            <a:srgbClr val="F0F7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246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🧳  Predict Visit Mode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predicts mode + confidence bar chart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3154680"/>
            <a:ext cx="2743200" cy="1280160"/>
          </a:xfrm>
          <a:prstGeom prst="rect">
            <a:avLst/>
          </a:prstGeom>
          <a:solidFill>
            <a:srgbClr val="F0F7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3246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Get Recommendations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Collaborative, Content-Based &amp; Hybrid suggestions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154680"/>
            <a:ext cx="2743200" cy="1280160"/>
          </a:xfrm>
          <a:prstGeom prst="rect">
            <a:avLst/>
          </a:prstGeom>
          <a:solidFill>
            <a:srgbClr val="F0F7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3246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Model Performance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importance, per-class report, metrics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streamlit run app.py   →   Opens at  http://localhost:8501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Actionable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51960" cy="11887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7043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💑  Couples dominate 40.8% of visits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72768"/>
            <a:ext cx="4041648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2763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dedicated couples packages with romantic itineraries at top-rated attractions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251960" cy="11887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17043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🏝️  One attraction gets 25% of all visits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18888" y="1572768"/>
            <a:ext cx="4041648" cy="182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62763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Market under-visited high-rated spots to distribute traffic and reduce crowding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2519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49631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User avg rating = strongest predictor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898648"/>
            <a:ext cx="4041648" cy="182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5351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past rating history as the primary personalization signal in the recommender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423160"/>
            <a:ext cx="4251960" cy="1188720"/>
          </a:xfrm>
          <a:prstGeom prst="rect">
            <a:avLst/>
          </a:prstGeom>
          <a:solidFill>
            <a:srgbClr val="FCE4EC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249631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Australia &amp; Oceania — highest avg rating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18888" y="2898648"/>
            <a:ext cx="4041648" cy="1828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5351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 this segment with premium offers; gather feedback from lower-rating regions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4251960" cy="11887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82219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Nature &amp; Wildlife tops 25% of visits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4224528"/>
            <a:ext cx="4041648" cy="1828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7939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Invest in eco-tourism infrastructure and sustainability programs for these categories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749040"/>
            <a:ext cx="4251960" cy="1188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18888" y="382219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Recommendation RMSE of 0.24 is excellent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18888" y="4224528"/>
            <a:ext cx="4041648" cy="182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427939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the hybrid recommender on the live platform replacing manual curated lists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&amp; Evaluation Criteria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51960" cy="11887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8872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 Tourism_Analytics.ipynb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62763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steps — cleaning, EDA, models, evaluation, insights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2519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18872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app.py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18888" y="162763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with 6 pages — prediction, EDA, recommendations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35240" y="1188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251960" cy="11887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51460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Tourism_Cleaned_Dataset.csv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295351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52,930 rows × 27 columns — final preprocessed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514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423160"/>
            <a:ext cx="4251960" cy="1188720"/>
          </a:xfrm>
          <a:prstGeom prst="rect">
            <a:avLst/>
          </a:prstGeom>
          <a:solidFill>
            <a:srgbClr val="FCE4EC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251460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Tourism_Report.docx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2953512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— approach, findings, metrics, insights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2514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859536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886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Evaluation Criteria — All Met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 ✅   </a:t>
            </a:r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✅   </a:t>
            </a:r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 ✅   </a:t>
            </a:r>
            <a:pPr indent="0" marL="0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 ✅   </a:t>
            </a:r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 ✅   </a:t>
            </a:r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✅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486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🌍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Experience Analytics — Classification, Prediction &amp; Recommendation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52,930 Transactions Analyzed   </a:t>
            </a:r>
            <a:pPr algn="ctr" indent="0" marL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XGBoost R² = 0.74   </a:t>
            </a:r>
            <a:pPr algn="ctr"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Hybrid Recommender RMSE = 0.24   </a:t>
            </a:r>
            <a:pPr algn="ctr" indent="0" marL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6-Page Streamlit App Deployed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4663440"/>
            <a:ext cx="8823960" cy="4800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63440"/>
            <a:ext cx="8503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Tourism  |  May 2026  |  Data Cleaning · EDA · ML · Streamlit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Experience Analytics</dc:title>
  <dc:subject>PptxGenJS Presentation</dc:subject>
  <dc:creator>Tourism Analytics Team</dc:creator>
  <cp:lastModifiedBy>Tourism Analytics Team</cp:lastModifiedBy>
  <cp:revision>1</cp:revision>
  <dcterms:created xsi:type="dcterms:W3CDTF">2026-05-27T05:03:25Z</dcterms:created>
  <dcterms:modified xsi:type="dcterms:W3CDTF">2026-05-27T05:03:25Z</dcterms:modified>
</cp:coreProperties>
</file>